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57" r:id="rId4"/>
    <p:sldId id="278" r:id="rId5"/>
    <p:sldId id="293" r:id="rId6"/>
    <p:sldId id="274" r:id="rId7"/>
    <p:sldId id="276" r:id="rId8"/>
    <p:sldId id="273" r:id="rId9"/>
    <p:sldId id="280" r:id="rId10"/>
    <p:sldId id="309" r:id="rId11"/>
    <p:sldId id="308" r:id="rId12"/>
    <p:sldId id="281" r:id="rId13"/>
    <p:sldId id="292" r:id="rId14"/>
    <p:sldId id="288" r:id="rId15"/>
    <p:sldId id="306" r:id="rId16"/>
    <p:sldId id="307" r:id="rId17"/>
    <p:sldId id="291" r:id="rId18"/>
    <p:sldId id="268" r:id="rId19"/>
    <p:sldId id="279" r:id="rId20"/>
    <p:sldId id="265" r:id="rId21"/>
    <p:sldId id="26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3030" autoAdjust="0"/>
  </p:normalViewPr>
  <p:slideViewPr>
    <p:cSldViewPr snapToGrid="0">
      <p:cViewPr varScale="1">
        <p:scale>
          <a:sx n="75" d="100"/>
          <a:sy n="75" d="100"/>
        </p:scale>
        <p:origin x="300" y="44"/>
      </p:cViewPr>
      <p:guideLst/>
    </p:cSldViewPr>
  </p:slideViewPr>
  <p:outlineViewPr>
    <p:cViewPr>
      <p:scale>
        <a:sx n="33" d="100"/>
        <a:sy n="33" d="100"/>
      </p:scale>
      <p:origin x="0" y="-680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D8B05F0-C64C-A2FE-9A2E-6850E386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DFEA76E-CC75-A12A-190A-AF0BD8101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74F7478-7BB7-F721-81E9-143538C45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5004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-ik-s/image-correctness-capstone-project-01?tab=readme-ov-file#image-correctness-capstone-project-0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82550" y="1069340"/>
            <a:ext cx="11737975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Image Correctness for a Product on the Marketplace</a:t>
            </a:r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3074" y="2146419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IN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CIT_51 </a:t>
            </a:r>
            <a:endParaRPr lang="en-IN" alt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77700" y="3037907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Soumya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735606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altLang="en-GB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sz="1800" b="1" dirty="0"/>
              <a:t>Dr. Anandaraj S.P 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3CA2C5-F8EC-7B0D-53D7-742B3EADD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65752"/>
              </p:ext>
            </p:extLst>
          </p:nvPr>
        </p:nvGraphicFramePr>
        <p:xfrm>
          <a:off x="134005" y="2698719"/>
          <a:ext cx="6173798" cy="200766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22443">
                  <a:extLst>
                    <a:ext uri="{9D8B030D-6E8A-4147-A177-3AD203B41FA5}">
                      <a16:colId xmlns:a16="http://schemas.microsoft.com/office/drawing/2014/main" val="2966578058"/>
                    </a:ext>
                  </a:extLst>
                </a:gridCol>
                <a:gridCol w="2851355">
                  <a:extLst>
                    <a:ext uri="{9D8B030D-6E8A-4147-A177-3AD203B41FA5}">
                      <a16:colId xmlns:a16="http://schemas.microsoft.com/office/drawing/2014/main" val="2529794697"/>
                    </a:ext>
                  </a:extLst>
                </a:gridCol>
              </a:tblGrid>
              <a:tr h="5838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Roll Number</a:t>
                      </a:r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</a:t>
                      </a: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 </a:t>
                      </a: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  <a:p>
                      <a:endParaRPr lang="en-I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42226"/>
                  </a:ext>
                </a:extLst>
              </a:tr>
              <a:tr h="455863">
                <a:tc>
                  <a:txBody>
                    <a:bodyPr/>
                    <a:lstStyle/>
                    <a:p>
                      <a:pPr lvl="0" algn="l"/>
                      <a:r>
                        <a:rPr lang="en-IN" dirty="0"/>
                        <a:t>20221CIT0003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Book Antiqua" panose="02040602050305030304" pitchFamily="18" charset="0"/>
                        </a:rPr>
                        <a:t>V</a:t>
                      </a:r>
                      <a:r>
                        <a:rPr lang="en-IN" sz="1400" dirty="0" err="1">
                          <a:latin typeface="Book Antiqua" panose="02040602050305030304" pitchFamily="18" charset="0"/>
                        </a:rPr>
                        <a:t>ikas</a:t>
                      </a:r>
                      <a:r>
                        <a:rPr lang="en-IN" sz="1400" dirty="0">
                          <a:latin typeface="Book Antiqua" panose="02040602050305030304" pitchFamily="18" charset="0"/>
                        </a:rPr>
                        <a:t> Yadav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179866"/>
                  </a:ext>
                </a:extLst>
              </a:tr>
              <a:tr h="4558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dirty="0"/>
                        <a:t>20221CIT0005</a:t>
                      </a:r>
                      <a:endParaRPr lang="en-IN" sz="1400" u="none" strike="noStrike" cap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+mj-lt"/>
                        </a:rPr>
                        <a:t>Shaik Yasin Shahid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903218"/>
                  </a:ext>
                </a:extLst>
              </a:tr>
              <a:tr h="4558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dirty="0"/>
                        <a:t>20221CIT0033</a:t>
                      </a:r>
                      <a:endParaRPr lang="en-IN" sz="1400" u="none" strike="noStrike" cap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+mj-lt"/>
                        </a:rPr>
                        <a:t>Akhil Hari</a:t>
                      </a:r>
                      <a:endParaRPr lang="en-IN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3830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6200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Generated image">
            <a:extLst>
              <a:ext uri="{FF2B5EF4-FFF2-40B4-BE49-F238E27FC236}">
                <a16:creationId xmlns:a16="http://schemas.microsoft.com/office/drawing/2014/main" id="{46D6D2A6-E4A8-0509-027E-5E05D4F74D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0" r="2297" b="3305"/>
          <a:stretch>
            <a:fillRect/>
          </a:stretch>
        </p:blipFill>
        <p:spPr bwMode="auto">
          <a:xfrm>
            <a:off x="832141" y="1064252"/>
            <a:ext cx="9722358" cy="516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620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18983" y="1050324"/>
            <a:ext cx="11442357" cy="522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online marketplaces like Amazon, Flipkart, or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Meesho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sellers often upload product images that are incorrect, misleading, of low quality, or irrelevant. This leads to: Poor customer experience return rates, Loss of platform credibility. Manual moderation is time-consuming and not scalable. Hence, there is a need for an automated system that can verify the correctness and quality of images before they are published.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620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18983" y="1050324"/>
            <a:ext cx="11442357" cy="522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Objectives: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develop an AI-powered system that automatically verifies whether the uploaded product image is: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Relevant to the product listing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Meets marketplace quality standards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Free from policy violations (e.g., watermarks, irrelevant text, multiple objects)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6DDD070-9904-896D-7644-B5AA9F43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9D5202F0-4593-8CE6-3ABF-39401F39B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620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9F2EF222-A4D4-34E7-7AF6-118EC9D91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8983" y="1050324"/>
            <a:ext cx="11442357" cy="522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1" indent="0">
              <a:buNone/>
            </a:pPr>
            <a:r>
              <a:rPr lang="en-US" sz="1800" b="1" dirty="0"/>
              <a:t>Existing Approaches in Image Verification</a:t>
            </a:r>
          </a:p>
          <a:p>
            <a:pPr lvl="1"/>
            <a:r>
              <a:rPr lang="en-US" sz="1600" b="1" dirty="0"/>
              <a:t>Convolutional Neural Networks (CNNs)</a:t>
            </a:r>
            <a:br>
              <a:rPr lang="en-US" sz="1600" dirty="0"/>
            </a:br>
            <a:r>
              <a:rPr lang="en-US" sz="1600" dirty="0"/>
              <a:t>Used widely for image classification tasks (e.g., plant disease detection, object recognition).</a:t>
            </a:r>
            <a:br>
              <a:rPr lang="en-US" sz="1600" dirty="0"/>
            </a:br>
            <a:r>
              <a:rPr lang="en-US" sz="1600" dirty="0"/>
              <a:t>Example: Kumar et al., IEEE Access (2021) – CNNs applied for accurate image classification.</a:t>
            </a:r>
          </a:p>
          <a:p>
            <a:pPr lvl="1"/>
            <a:r>
              <a:rPr lang="en-US" sz="1600" b="1" dirty="0"/>
              <a:t>Object Detection (YOLO)</a:t>
            </a:r>
            <a:br>
              <a:rPr lang="en-US" sz="1600" dirty="0"/>
            </a:br>
            <a:r>
              <a:rPr lang="en-US" sz="1600" dirty="0"/>
              <a:t>Real-time object detection and bounding box generation.</a:t>
            </a:r>
            <a:br>
              <a:rPr lang="en-US" sz="1600" dirty="0"/>
            </a:br>
            <a:r>
              <a:rPr lang="en-US" sz="1600" dirty="0"/>
              <a:t>Efficient for detecting multiple objects and ensuring only one product is in focus.</a:t>
            </a:r>
          </a:p>
          <a:p>
            <a:pPr lvl="1"/>
            <a:r>
              <a:rPr lang="en-US" sz="1600" b="1" dirty="0"/>
              <a:t>Optical Character Recognition (OCR)</a:t>
            </a:r>
            <a:br>
              <a:rPr lang="en-US" dirty="0"/>
            </a:br>
            <a:r>
              <a:rPr lang="en-US" sz="1600" dirty="0"/>
              <a:t>Detects embedded text or watermarks violating platform policies.</a:t>
            </a:r>
            <a:br>
              <a:rPr lang="en-US" sz="1600" dirty="0"/>
            </a:br>
            <a:r>
              <a:rPr lang="en-US" sz="1600" dirty="0"/>
              <a:t>Commonly used to extract text from images for compliance checks.</a:t>
            </a:r>
          </a:p>
          <a:p>
            <a:pPr marL="533400" lvl="1" indent="0">
              <a:buNone/>
            </a:pPr>
            <a:r>
              <a:rPr lang="en-US" sz="1800" b="1" dirty="0"/>
              <a:t>Gaps &amp; Motivation for Proposed Work</a:t>
            </a:r>
          </a:p>
          <a:p>
            <a:pPr lvl="1"/>
            <a:r>
              <a:rPr lang="en-US" sz="1600" dirty="0"/>
              <a:t>Existing systems lack </a:t>
            </a:r>
            <a:r>
              <a:rPr lang="en-US" sz="1600" b="1" dirty="0"/>
              <a:t>multimodal analysis</a:t>
            </a:r>
            <a:r>
              <a:rPr lang="en-US" sz="1600" dirty="0"/>
              <a:t> (image + text matching).</a:t>
            </a:r>
          </a:p>
          <a:p>
            <a:pPr lvl="1"/>
            <a:r>
              <a:rPr lang="en-US" sz="1600" dirty="0"/>
              <a:t>Most systems do </a:t>
            </a:r>
            <a:r>
              <a:rPr lang="en-US" sz="1600" b="1" dirty="0"/>
              <a:t>not provide real-time feedback</a:t>
            </a:r>
            <a:r>
              <a:rPr lang="en-US" sz="1600" dirty="0"/>
              <a:t> to sellers during image upload.</a:t>
            </a:r>
          </a:p>
          <a:p>
            <a:pPr lvl="1"/>
            <a:r>
              <a:rPr lang="en-US" sz="1600" dirty="0"/>
              <a:t>Rule-based approaches alone may result in high false positives.</a:t>
            </a:r>
          </a:p>
          <a:p>
            <a:pPr lvl="1"/>
            <a:r>
              <a:rPr lang="en-US" sz="1600" dirty="0"/>
              <a:t>Combining AI models with rules improves accuracy but needs further enhancement for marketplace use-cases.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8163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31572" y="1002270"/>
            <a:ext cx="11528855" cy="53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2200" b="1" dirty="0"/>
              <a:t>Background &amp; Related Work</a:t>
            </a:r>
          </a:p>
          <a:p>
            <a:r>
              <a:rPr lang="en-US" sz="2200" dirty="0"/>
              <a:t>Sellers often upload incorrect, low-quality, or misleading product images on marketplaces like Amazon and Flipkart, causing poor customer experience and higher return rates.</a:t>
            </a:r>
          </a:p>
          <a:p>
            <a:r>
              <a:rPr lang="en-US" sz="2200" dirty="0"/>
              <a:t>Manual image moderation is time-consuming and not scalable.</a:t>
            </a:r>
          </a:p>
          <a:p>
            <a:r>
              <a:rPr lang="en-US" sz="2200" dirty="0"/>
              <a:t>Existing solutions use </a:t>
            </a:r>
            <a:r>
              <a:rPr lang="en-US" sz="2200" b="1" dirty="0"/>
              <a:t>CNN for image classification</a:t>
            </a:r>
            <a:r>
              <a:rPr lang="en-US" sz="2200" dirty="0"/>
              <a:t>, </a:t>
            </a:r>
            <a:r>
              <a:rPr lang="en-US" sz="2200" b="1" dirty="0"/>
              <a:t>YOLO for object detection</a:t>
            </a:r>
            <a:r>
              <a:rPr lang="en-US" sz="2200" dirty="0"/>
              <a:t>, and </a:t>
            </a:r>
            <a:r>
              <a:rPr lang="en-US" sz="2200" b="1" dirty="0"/>
              <a:t>OCR for text/watermark detection</a:t>
            </a:r>
            <a:r>
              <a:rPr lang="en-US" sz="2200" dirty="0"/>
              <a:t>.</a:t>
            </a:r>
          </a:p>
          <a:p>
            <a:r>
              <a:rPr lang="en-US" sz="2200" dirty="0"/>
              <a:t>Rule-based validation combined with AI models improves accuracy but lacks real-time feedback and multimodal analysis.</a:t>
            </a:r>
          </a:p>
          <a:p>
            <a:r>
              <a:rPr lang="en-US" sz="2200" dirty="0"/>
              <a:t>This project proposes an automated system to ensure image relevance, quality, and compliance with marketplace standards.</a:t>
            </a:r>
          </a:p>
          <a:p>
            <a:endParaRPr lang="en-US" sz="2000" dirty="0"/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32485" y="951470"/>
            <a:ext cx="11528855" cy="53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sz="2800" b="1" u="sng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28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38150" lvl="0" indent="-285750" algn="just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/>
              <a:t>Poor Customer Experience</a:t>
            </a:r>
            <a:r>
              <a:rPr lang="en-US" sz="2800" dirty="0"/>
              <a:t>: Buyers may be misled or get an inaccurate impression of the product.</a:t>
            </a:r>
          </a:p>
          <a:p>
            <a:pPr marL="438150" lvl="0" indent="-285750" algn="just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/>
              <a:t>Increased Return Rates</a:t>
            </a:r>
            <a:r>
              <a:rPr lang="en-US" sz="2800" dirty="0"/>
              <a:t>: Misleading images can lead to customers returning products more frequently.</a:t>
            </a:r>
          </a:p>
          <a:p>
            <a:pPr marL="438150" lvl="0" indent="-285750" algn="just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/>
              <a:t>Loss of Platform Credibility</a:t>
            </a:r>
            <a:r>
              <a:rPr lang="en-US" sz="2800" dirty="0"/>
              <a:t>: The trustworthiness of the marketplace diminishes when product listings are inaccurate.</a:t>
            </a:r>
          </a:p>
          <a:p>
            <a:pPr marL="438150" lvl="0" indent="-285750" algn="just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/>
              <a:t>Inefficient Moderation</a:t>
            </a:r>
            <a:r>
              <a:rPr lang="en-US" sz="2800" dirty="0"/>
              <a:t>: The existing method of manual moderation to catch these issues is time-consuming and not scalable for large platforms.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27789" y="237831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68131" y="1124856"/>
            <a:ext cx="11751276" cy="494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b="1" dirty="0"/>
              <a:t>Objectives:</a:t>
            </a:r>
            <a:r>
              <a:rPr lang="en-US" dirty="0"/>
              <a:t> The specific goals of the project.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b="1" dirty="0"/>
              <a:t>Features of the Proposed System:</a:t>
            </a:r>
            <a:r>
              <a:rPr lang="en-US" dirty="0"/>
              <a:t> The planned capabilities like background validation or watermark detection.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b="1" dirty="0"/>
              <a:t>System Architecture:</a:t>
            </a:r>
            <a:r>
              <a:rPr lang="en-US" dirty="0"/>
              <a:t> The technical workflow from image upload to decision.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b="1" dirty="0"/>
              <a:t>Tools and Technologies:</a:t>
            </a:r>
            <a:r>
              <a:rPr lang="en-US" dirty="0"/>
              <a:t> The specific software, frameworks, and models to be used.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b="1" dirty="0"/>
              <a:t>Methodology:</a:t>
            </a:r>
            <a:r>
              <a:rPr lang="en-US" dirty="0"/>
              <a:t> The steps for data collection, model training, and evaluation.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b="1" dirty="0"/>
              <a:t>Expected Outcomes:</a:t>
            </a:r>
            <a:r>
              <a:rPr lang="en-US" dirty="0"/>
              <a:t> The anticipated results, such as accuracy levels and impact.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b="1" dirty="0"/>
              <a:t>Future Enhancements:</a:t>
            </a:r>
            <a:r>
              <a:rPr lang="en-US" dirty="0"/>
              <a:t> Planned improvements after the core project is complete.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9" descr="A computer screen shot of a program  AI-generated content may be incorrect.">
            <a:extLst>
              <a:ext uri="{FF2B5EF4-FFF2-40B4-BE49-F238E27FC236}">
                <a16:creationId xmlns:a16="http://schemas.microsoft.com/office/drawing/2014/main" id="{212F0183-D043-8B2B-1DFF-29A6EA67E46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8886" y="1034309"/>
            <a:ext cx="3302847" cy="2707957"/>
          </a:xfrm>
          <a:prstGeom prst="rect">
            <a:avLst/>
          </a:prstGeom>
        </p:spPr>
      </p:pic>
      <p:pic>
        <p:nvPicPr>
          <p:cNvPr id="4" name="Image 20" descr="A screen shot of a computer screen  AI-generated content may be incorrect.">
            <a:extLst>
              <a:ext uri="{FF2B5EF4-FFF2-40B4-BE49-F238E27FC236}">
                <a16:creationId xmlns:a16="http://schemas.microsoft.com/office/drawing/2014/main" id="{6EEC671F-80B0-890B-5071-FB9436573464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78866" y="1034308"/>
            <a:ext cx="3234267" cy="2707957"/>
          </a:xfrm>
          <a:prstGeom prst="rect">
            <a:avLst/>
          </a:prstGeom>
        </p:spPr>
      </p:pic>
      <p:pic>
        <p:nvPicPr>
          <p:cNvPr id="5" name="Image 21" descr="A screen shot of a computer code  AI-generated content may be incorrect.">
            <a:extLst>
              <a:ext uri="{FF2B5EF4-FFF2-40B4-BE49-F238E27FC236}">
                <a16:creationId xmlns:a16="http://schemas.microsoft.com/office/drawing/2014/main" id="{583322F5-FE71-3CEB-133F-F91C26AC7253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76448" y="1034308"/>
            <a:ext cx="3013286" cy="2707957"/>
          </a:xfrm>
          <a:prstGeom prst="rect">
            <a:avLst/>
          </a:prstGeom>
        </p:spPr>
      </p:pic>
      <p:pic>
        <p:nvPicPr>
          <p:cNvPr id="6" name="Image 22" descr="A screen shot of a computer  AI-generated content may be incorrect.">
            <a:extLst>
              <a:ext uri="{FF2B5EF4-FFF2-40B4-BE49-F238E27FC236}">
                <a16:creationId xmlns:a16="http://schemas.microsoft.com/office/drawing/2014/main" id="{AB363250-CB04-2355-93EC-B99557283EFE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8886" y="3813281"/>
            <a:ext cx="3302846" cy="2418186"/>
          </a:xfrm>
          <a:prstGeom prst="rect">
            <a:avLst/>
          </a:prstGeom>
        </p:spPr>
      </p:pic>
      <p:pic>
        <p:nvPicPr>
          <p:cNvPr id="7" name="Image 23" descr="A screen shot of a computer code  AI-generated content may be incorrect.">
            <a:extLst>
              <a:ext uri="{FF2B5EF4-FFF2-40B4-BE49-F238E27FC236}">
                <a16:creationId xmlns:a16="http://schemas.microsoft.com/office/drawing/2014/main" id="{21298E36-908F-1A92-735B-43ED2C97E654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478866" y="3813282"/>
            <a:ext cx="3234267" cy="2418186"/>
          </a:xfrm>
          <a:prstGeom prst="rect">
            <a:avLst/>
          </a:prstGeom>
        </p:spPr>
      </p:pic>
      <p:pic>
        <p:nvPicPr>
          <p:cNvPr id="8" name="Image 24" descr="A screen shot of a computer program  AI-generated content may be incorrect.">
            <a:extLst>
              <a:ext uri="{FF2B5EF4-FFF2-40B4-BE49-F238E27FC236}">
                <a16:creationId xmlns:a16="http://schemas.microsoft.com/office/drawing/2014/main" id="{2F9859B9-2F4B-E008-CD90-B2E39C965883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976448" y="3813282"/>
            <a:ext cx="3013286" cy="24181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8AF1DB-ADE0-E715-18C6-EBA408E02CC7}"/>
              </a:ext>
            </a:extLst>
          </p:cNvPr>
          <p:cNvSpPr txBox="1"/>
          <p:nvPr/>
        </p:nvSpPr>
        <p:spPr>
          <a:xfrm>
            <a:off x="828886" y="440071"/>
            <a:ext cx="8983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PROGRAM CODES</a:t>
            </a:r>
            <a:endParaRPr lang="en-IN" sz="2800" b="1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83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AD9F-AEE4-EF97-D91F-F6965791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AAE543-5FF6-8DEB-28B0-9C06F8B5855D}"/>
              </a:ext>
            </a:extLst>
          </p:cNvPr>
          <p:cNvSpPr txBox="1"/>
          <p:nvPr/>
        </p:nvSpPr>
        <p:spPr>
          <a:xfrm>
            <a:off x="828886" y="440071"/>
            <a:ext cx="8983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PROGRAM CODES</a:t>
            </a:r>
            <a:endParaRPr lang="en-IN" sz="2800" b="1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5" descr="A screen shot of a computer program  AI-generated content may be incorrect.">
            <a:extLst>
              <a:ext uri="{FF2B5EF4-FFF2-40B4-BE49-F238E27FC236}">
                <a16:creationId xmlns:a16="http://schemas.microsoft.com/office/drawing/2014/main" id="{0708C6D8-E3EA-0044-D19B-0AF56859ACC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8886" y="1034308"/>
            <a:ext cx="3302846" cy="2707957"/>
          </a:xfrm>
          <a:prstGeom prst="rect">
            <a:avLst/>
          </a:prstGeom>
        </p:spPr>
      </p:pic>
      <p:pic>
        <p:nvPicPr>
          <p:cNvPr id="10" name="Image 26" descr="A screenshot of a computer program  AI-generated content may be incorrect.">
            <a:extLst>
              <a:ext uri="{FF2B5EF4-FFF2-40B4-BE49-F238E27FC236}">
                <a16:creationId xmlns:a16="http://schemas.microsoft.com/office/drawing/2014/main" id="{DC007187-490B-BB06-4D04-6555FFAEC9C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3706" y="1034308"/>
            <a:ext cx="3664585" cy="2418187"/>
          </a:xfrm>
          <a:prstGeom prst="rect">
            <a:avLst/>
          </a:prstGeom>
        </p:spPr>
      </p:pic>
      <p:pic>
        <p:nvPicPr>
          <p:cNvPr id="11" name="Image 27" descr="A computer screen shot of a computer program  AI-generated content may be incorrect.">
            <a:extLst>
              <a:ext uri="{FF2B5EF4-FFF2-40B4-BE49-F238E27FC236}">
                <a16:creationId xmlns:a16="http://schemas.microsoft.com/office/drawing/2014/main" id="{213CC343-BF3D-ECF7-4DE3-345B24110D83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60265" y="1034308"/>
            <a:ext cx="3470485" cy="270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2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8C5E-B5A8-DA75-DC78-D5D3F5116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C17BC-AE79-A018-361D-9145F397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893415"/>
            <a:ext cx="10287000" cy="50711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45051B-213C-99E0-0371-F1E9227F50B4}"/>
              </a:ext>
            </a:extLst>
          </p:cNvPr>
          <p:cNvSpPr txBox="1"/>
          <p:nvPr/>
        </p:nvSpPr>
        <p:spPr>
          <a:xfrm>
            <a:off x="863600" y="235898"/>
            <a:ext cx="686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Program Code</a:t>
            </a:r>
            <a:endParaRPr lang="en-IN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01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94CD4-1AB9-2FF4-C11B-6B8CF499A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7" y="924607"/>
            <a:ext cx="4252687" cy="4685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1DF8E9-7C2E-939F-E3FA-F660F5020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921" y="943429"/>
            <a:ext cx="4355855" cy="50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4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Hardware and Software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 u="sng" dirty="0">
                <a:solidFill>
                  <a:srgbClr val="17365D"/>
                </a:solidFill>
              </a:rPr>
              <a:t>Hardware Requirements:</a:t>
            </a:r>
            <a:endParaRPr lang="en-IN" b="1" u="sng" dirty="0"/>
          </a:p>
          <a:p>
            <a:r>
              <a:rPr lang="en-IN" b="1" dirty="0"/>
              <a:t>Processor</a:t>
            </a:r>
            <a:r>
              <a:rPr lang="en-IN" dirty="0"/>
              <a:t>: Intel i5/i7 or AMD equivalent</a:t>
            </a:r>
          </a:p>
          <a:p>
            <a:r>
              <a:rPr lang="en-IN" b="1" dirty="0"/>
              <a:t>RAM</a:t>
            </a:r>
            <a:r>
              <a:rPr lang="en-IN" dirty="0"/>
              <a:t>: 8 GB (minimum), 16 GB (recommended)</a:t>
            </a:r>
          </a:p>
          <a:p>
            <a:r>
              <a:rPr lang="en-IN" b="1" dirty="0"/>
              <a:t>Storage</a:t>
            </a:r>
            <a:r>
              <a:rPr lang="en-IN" dirty="0"/>
              <a:t>: 256 GB SSD (minimum), 512 GB+ SSD (recommended)</a:t>
            </a:r>
          </a:p>
          <a:p>
            <a:r>
              <a:rPr lang="en-IN" b="1" dirty="0"/>
              <a:t>Graphics</a:t>
            </a:r>
            <a:r>
              <a:rPr lang="en-IN" dirty="0"/>
              <a:t>: Integrated GPU (basic) / Dedicated GPU (for AI/ML tasks)</a:t>
            </a:r>
          </a:p>
          <a:p>
            <a:r>
              <a:rPr lang="en-IN" b="1" dirty="0"/>
              <a:t>Network</a:t>
            </a:r>
            <a:r>
              <a:rPr lang="en-IN" dirty="0"/>
              <a:t>: Stable broadband connection</a:t>
            </a:r>
          </a:p>
          <a:p>
            <a:r>
              <a:rPr lang="en-IN" b="1" dirty="0"/>
              <a:t>Devices</a:t>
            </a:r>
            <a:r>
              <a:rPr lang="en-IN" dirty="0"/>
              <a:t>: Desktop/Laptop, optional mobile/tablet for testing</a:t>
            </a:r>
          </a:p>
          <a:p>
            <a:pPr marL="76200" indent="0">
              <a:buNone/>
            </a:pPr>
            <a:r>
              <a:rPr lang="en-US" b="1" u="sng" dirty="0">
                <a:solidFill>
                  <a:srgbClr val="17365D"/>
                </a:solidFill>
              </a:rPr>
              <a:t>Software Requirements:</a:t>
            </a:r>
            <a:endParaRPr lang="en-IN" b="1" u="sng" dirty="0"/>
          </a:p>
          <a:p>
            <a:r>
              <a:rPr lang="en-IN" b="1" dirty="0"/>
              <a:t>Operating System</a:t>
            </a:r>
            <a:r>
              <a:rPr lang="en-IN" dirty="0"/>
              <a:t>: Windows 10/11, Linux (Ubuntu), macOS</a:t>
            </a:r>
          </a:p>
          <a:p>
            <a:r>
              <a:rPr lang="en-IN" b="1" dirty="0"/>
              <a:t>Backend</a:t>
            </a:r>
            <a:r>
              <a:rPr lang="en-IN" dirty="0"/>
              <a:t>: Node.js / Express.js, Python (if ML is involved)</a:t>
            </a:r>
          </a:p>
          <a:p>
            <a:r>
              <a:rPr lang="en-IN" b="1" dirty="0"/>
              <a:t>Frontend</a:t>
            </a:r>
            <a:r>
              <a:rPr lang="en-IN" dirty="0"/>
              <a:t>: HTML, CSS, JavaScript, React.js</a:t>
            </a:r>
          </a:p>
          <a:p>
            <a:r>
              <a:rPr lang="en-IN" b="1" dirty="0"/>
              <a:t>Database</a:t>
            </a:r>
            <a:r>
              <a:rPr lang="en-IN" dirty="0"/>
              <a:t>: MongoDB / Firebase</a:t>
            </a:r>
          </a:p>
          <a:p>
            <a:r>
              <a:rPr lang="en-IN" b="1" dirty="0"/>
              <a:t>Version Control</a:t>
            </a:r>
            <a:r>
              <a:rPr lang="en-IN" dirty="0"/>
              <a:t>: Git &amp; GitHub/GitLab</a:t>
            </a:r>
          </a:p>
          <a:p>
            <a:r>
              <a:rPr lang="en-IN" b="1" dirty="0"/>
              <a:t>Tools &amp; IDEs</a:t>
            </a:r>
            <a:r>
              <a:rPr lang="en-IN" dirty="0"/>
              <a:t>: VS Code, Postman, Docker (optional for deployment)</a:t>
            </a:r>
          </a:p>
          <a:p>
            <a:r>
              <a:rPr lang="en-IN" b="1" dirty="0"/>
              <a:t>Other Utilities</a:t>
            </a:r>
            <a:r>
              <a:rPr lang="en-IN" dirty="0"/>
              <a:t>: APIs for image validation, cloud storage (AWS/GCP/Azure)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Existing Methods and Drawbacks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b="1" dirty="0"/>
              <a:t>1. Manual Moderation</a:t>
            </a:r>
          </a:p>
          <a:p>
            <a:r>
              <a:rPr lang="en-US" b="1" dirty="0"/>
              <a:t>Method</a:t>
            </a:r>
            <a:r>
              <a:rPr lang="en-US" dirty="0"/>
              <a:t>: Human moderators review product images uploaded by sellers and approve/reject based on marketplace guidelines.</a:t>
            </a:r>
          </a:p>
          <a:p>
            <a:r>
              <a:rPr lang="en-US" b="1" dirty="0"/>
              <a:t>Drawbacks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Time-consuming and costly.</a:t>
            </a:r>
          </a:p>
          <a:p>
            <a:pPr lvl="1"/>
            <a:r>
              <a:rPr lang="en-US" dirty="0"/>
              <a:t>Not scalable for millions of listings uploaded daily.</a:t>
            </a:r>
          </a:p>
          <a:p>
            <a:pPr lvl="1"/>
            <a:r>
              <a:rPr lang="en-US" dirty="0"/>
              <a:t>Subjective decisions → inconsistency in approvals.</a:t>
            </a:r>
          </a:p>
          <a:p>
            <a:pPr marL="76200" indent="0">
              <a:buNone/>
            </a:pPr>
            <a:r>
              <a:rPr lang="en-US" b="1" dirty="0"/>
              <a:t>2. Rule-Based Image Validation</a:t>
            </a:r>
          </a:p>
          <a:p>
            <a:r>
              <a:rPr lang="en-US" b="1" dirty="0"/>
              <a:t>Method</a:t>
            </a:r>
            <a:r>
              <a:rPr lang="en-US" dirty="0"/>
              <a:t>: Platforms enforce simple rules such as minimum resolution, aspect ratio, or background color checks.</a:t>
            </a:r>
          </a:p>
          <a:p>
            <a:r>
              <a:rPr lang="en-US" b="1" dirty="0"/>
              <a:t>Drawbacks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Limited flexibility—cannot detect misleading or irrelevant product images.</a:t>
            </a:r>
          </a:p>
          <a:p>
            <a:pPr lvl="1"/>
            <a:r>
              <a:rPr lang="en-US" dirty="0"/>
              <a:t>Easy for sellers to bypass rules (e.g., slightly editing images).</a:t>
            </a:r>
          </a:p>
          <a:p>
            <a:pPr lvl="1"/>
            <a:r>
              <a:rPr lang="en-US" dirty="0"/>
              <a:t>Does not handle complex features like duplicate detection or text logos.</a:t>
            </a:r>
          </a:p>
          <a:p>
            <a:pPr marL="7620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C633-034C-CC10-705D-93A9DEB2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CD4D-D648-CFB5-1ED0-0E06B531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C65F9-1FA0-A367-8535-A5F4FA6E1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76200" indent="0">
              <a:buNone/>
            </a:pPr>
            <a:r>
              <a:rPr lang="en-US" b="1" dirty="0"/>
              <a:t>3. Traditional Computer Vision Techniques</a:t>
            </a:r>
          </a:p>
          <a:p>
            <a:r>
              <a:rPr lang="en-US" b="1" dirty="0"/>
              <a:t>Method</a:t>
            </a:r>
            <a:r>
              <a:rPr lang="en-US" dirty="0"/>
              <a:t>: Algorithms like edge detection, histogram analysis, or template matching used for quality and relevance checks.</a:t>
            </a:r>
          </a:p>
          <a:p>
            <a:r>
              <a:rPr lang="en-US" b="1" dirty="0"/>
              <a:t>Drawbacks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Poor performance on diverse product categories (fashion, electronics, groceries).</a:t>
            </a:r>
          </a:p>
          <a:p>
            <a:pPr lvl="1"/>
            <a:r>
              <a:rPr lang="en-US" dirty="0"/>
              <a:t>Sensitive to noise, lighting variations, and background clutter.</a:t>
            </a:r>
          </a:p>
          <a:p>
            <a:pPr lvl="1"/>
            <a:r>
              <a:rPr lang="en-US" dirty="0"/>
              <a:t>Cannot generalize well to unseen product types.</a:t>
            </a:r>
          </a:p>
          <a:p>
            <a:pPr marL="76200" indent="0">
              <a:buNone/>
            </a:pPr>
            <a:r>
              <a:rPr lang="en-IN" b="1" dirty="0"/>
              <a:t>4. Deep Learning-based Approaches (CNN, YOLO, Faster R-CNN, etc.)</a:t>
            </a:r>
          </a:p>
          <a:p>
            <a:r>
              <a:rPr lang="en-IN" b="1" dirty="0"/>
              <a:t>Method</a:t>
            </a:r>
            <a:r>
              <a:rPr lang="en-IN" dirty="0"/>
              <a:t>: CNNs for classification, YOLO/Faster R-CNN for object detection, OCR for text recognition.</a:t>
            </a:r>
          </a:p>
          <a:p>
            <a:r>
              <a:rPr lang="en-IN" b="1" dirty="0"/>
              <a:t>Drawbacks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High computational cost for real-time moderation.</a:t>
            </a:r>
          </a:p>
          <a:p>
            <a:pPr lvl="1"/>
            <a:r>
              <a:rPr lang="en-IN" dirty="0"/>
              <a:t>Require large, domain-specific training datasets.</a:t>
            </a:r>
          </a:p>
          <a:p>
            <a:pPr lvl="1"/>
            <a:r>
              <a:rPr lang="en-IN" dirty="0"/>
              <a:t>Individual models target specific tasks (e.g., object detection, text detection) rather than providing an end-to-end solution.</a:t>
            </a:r>
          </a:p>
          <a:p>
            <a:pPr marL="7620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3115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23FF9-0FF6-25C1-D3CF-0C863040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5D1A-1623-F101-E489-CD126376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Proposed Method &amp;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37057-C8D4-12F0-0ACB-9C0CB600D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 u="sng" dirty="0">
                <a:solidFill>
                  <a:srgbClr val="17365D"/>
                </a:solidFill>
              </a:rPr>
              <a:t>Key Modules:</a:t>
            </a:r>
          </a:p>
          <a:p>
            <a:r>
              <a:rPr lang="en-IN" b="1" dirty="0"/>
              <a:t>Object Detection (YOLOv5/YOLOv8):</a:t>
            </a:r>
            <a:r>
              <a:rPr lang="en-IN" dirty="0"/>
              <a:t> Count products, flag multiple items.</a:t>
            </a:r>
          </a:p>
          <a:p>
            <a:r>
              <a:rPr lang="en-IN" b="1" dirty="0"/>
              <a:t>Background Validation:</a:t>
            </a:r>
            <a:r>
              <a:rPr lang="en-IN" dirty="0"/>
              <a:t> Plain/white vs cluttered → reject non-compliant.</a:t>
            </a:r>
          </a:p>
          <a:p>
            <a:r>
              <a:rPr lang="en-IN" b="1" dirty="0"/>
              <a:t>Text &amp; Watermark Detection (OCR + CNN):</a:t>
            </a:r>
            <a:r>
              <a:rPr lang="en-IN" dirty="0"/>
              <a:t> Block promotional text/logos/watermarks.</a:t>
            </a:r>
          </a:p>
          <a:p>
            <a:r>
              <a:rPr lang="en-IN" b="1" dirty="0"/>
              <a:t>Image Quality Analysis:</a:t>
            </a:r>
            <a:r>
              <a:rPr lang="en-IN" dirty="0"/>
              <a:t> Check sharpness, brightness, resolution, cropping.</a:t>
            </a:r>
          </a:p>
          <a:p>
            <a:r>
              <a:rPr lang="en-IN" b="1" dirty="0"/>
              <a:t>Duplicate Detection:</a:t>
            </a:r>
            <a:r>
              <a:rPr lang="en-IN" dirty="0"/>
              <a:t> Perceptual hashing + deep features.</a:t>
            </a:r>
          </a:p>
          <a:p>
            <a:r>
              <a:rPr lang="en-IN" b="1" dirty="0"/>
              <a:t>Decision Engine:</a:t>
            </a:r>
            <a:r>
              <a:rPr lang="en-IN" dirty="0"/>
              <a:t> AI + rules → Accept/Reject with reason codes.</a:t>
            </a:r>
          </a:p>
          <a:p>
            <a:pPr marL="76200" indent="0">
              <a:buNone/>
            </a:pPr>
            <a:r>
              <a:rPr lang="en-US" b="1" u="sng" dirty="0">
                <a:solidFill>
                  <a:srgbClr val="17365D"/>
                </a:solidFill>
              </a:rPr>
              <a:t>Feasibility:</a:t>
            </a:r>
            <a:endParaRPr lang="en-IN" dirty="0"/>
          </a:p>
          <a:p>
            <a:r>
              <a:rPr lang="en-IN" b="1" dirty="0"/>
              <a:t>Technical:</a:t>
            </a:r>
            <a:r>
              <a:rPr lang="en-IN" dirty="0"/>
              <a:t> Open-source (TensorFlow, </a:t>
            </a:r>
            <a:r>
              <a:rPr lang="en-IN" dirty="0" err="1"/>
              <a:t>PyTorch</a:t>
            </a:r>
            <a:r>
              <a:rPr lang="en-IN" dirty="0"/>
              <a:t>, OpenCV), scalable cloud deployment.</a:t>
            </a:r>
          </a:p>
          <a:p>
            <a:r>
              <a:rPr lang="en-IN" b="1" dirty="0"/>
              <a:t>Economic:</a:t>
            </a:r>
            <a:r>
              <a:rPr lang="en-IN" dirty="0"/>
              <a:t> Cuts manual moderation costs, low inference cost, boosts trust.</a:t>
            </a:r>
          </a:p>
          <a:p>
            <a:r>
              <a:rPr lang="en-IN" b="1" dirty="0"/>
              <a:t>Operational:</a:t>
            </a:r>
            <a:r>
              <a:rPr lang="en-IN" dirty="0"/>
              <a:t> Real-time seller feedback, seamless workflow integration.</a:t>
            </a:r>
          </a:p>
          <a:p>
            <a:r>
              <a:rPr lang="en-IN" b="1" dirty="0"/>
              <a:t>Legal &amp; Policy:</a:t>
            </a:r>
            <a:r>
              <a:rPr lang="en-IN" dirty="0"/>
              <a:t> Aligned with marketplace standards, transparent moderation.</a:t>
            </a:r>
          </a:p>
        </p:txBody>
      </p:sp>
    </p:spTree>
    <p:extLst>
      <p:ext uri="{BB962C8B-B14F-4D97-AF65-F5344CB8AC3E}">
        <p14:creationId xmlns:p14="http://schemas.microsoft.com/office/powerpoint/2010/main" val="475655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US" sz="2200" b="1" u="sng" dirty="0">
                <a:solidFill>
                  <a:srgbClr val="17365D"/>
                </a:solidFill>
              </a:rPr>
              <a:t>Key Modules:</a:t>
            </a:r>
            <a:endParaRPr lang="en-IN" sz="2200" b="1" u="sng" dirty="0"/>
          </a:p>
          <a:p>
            <a:r>
              <a:rPr lang="en-IN" sz="2200" b="1" dirty="0"/>
              <a:t>Image Upload Module</a:t>
            </a:r>
            <a:endParaRPr lang="en-IN" sz="2200" dirty="0"/>
          </a:p>
          <a:p>
            <a:pPr lvl="1"/>
            <a:r>
              <a:rPr lang="en-IN" dirty="0"/>
              <a:t>Handles product image submission (formats, sizes, limits).</a:t>
            </a:r>
          </a:p>
          <a:p>
            <a:r>
              <a:rPr lang="en-IN" sz="2200" b="1" dirty="0"/>
              <a:t>Image Validation Module</a:t>
            </a:r>
            <a:endParaRPr lang="en-IN" sz="2200" dirty="0"/>
          </a:p>
          <a:p>
            <a:pPr lvl="1"/>
            <a:r>
              <a:rPr lang="en-IN" dirty="0"/>
              <a:t>Checks file type, resolution, background, watermark, and size compliance.</a:t>
            </a:r>
          </a:p>
          <a:p>
            <a:r>
              <a:rPr lang="en-IN" sz="2200" b="1" dirty="0"/>
              <a:t>AI/ML Verification Module</a:t>
            </a:r>
            <a:endParaRPr lang="en-IN" sz="2200" dirty="0"/>
          </a:p>
          <a:p>
            <a:pPr lvl="1"/>
            <a:r>
              <a:rPr lang="en-IN" dirty="0"/>
              <a:t>Detects inappropriate, duplicate, or irrelevant images.</a:t>
            </a:r>
          </a:p>
          <a:p>
            <a:r>
              <a:rPr lang="en-IN" sz="2200" b="1" dirty="0"/>
              <a:t>Metadata &amp; Tagging Module</a:t>
            </a:r>
            <a:endParaRPr lang="en-IN" sz="2200" dirty="0"/>
          </a:p>
          <a:p>
            <a:pPr lvl="1"/>
            <a:r>
              <a:rPr lang="en-IN" dirty="0"/>
              <a:t>Associates product details, category, and brand with images.</a:t>
            </a:r>
          </a:p>
          <a:p>
            <a:r>
              <a:rPr lang="en-IN" sz="2200" b="1" dirty="0"/>
              <a:t>Compliance Module</a:t>
            </a:r>
            <a:endParaRPr lang="en-IN" sz="2200" dirty="0"/>
          </a:p>
          <a:p>
            <a:pPr lvl="1"/>
            <a:r>
              <a:rPr lang="en-IN" dirty="0"/>
              <a:t>Ensures adherence to marketplace guidelines &amp; legal standards.</a:t>
            </a:r>
          </a:p>
          <a:p>
            <a:r>
              <a:rPr lang="en-IN" sz="2200" b="1" dirty="0"/>
              <a:t>Database &amp; Storage Module</a:t>
            </a:r>
            <a:endParaRPr lang="en-IN" sz="2200" dirty="0"/>
          </a:p>
          <a:p>
            <a:pPr lvl="1"/>
            <a:r>
              <a:rPr lang="en-IN" dirty="0"/>
              <a:t>Stores validated images securely with version control.</a:t>
            </a:r>
          </a:p>
          <a:p>
            <a:r>
              <a:rPr lang="en-IN" sz="2200" b="1" dirty="0"/>
              <a:t>Admin/Review Module</a:t>
            </a:r>
            <a:endParaRPr lang="en-IN" sz="2200" dirty="0"/>
          </a:p>
          <a:p>
            <a:pPr lvl="1"/>
            <a:r>
              <a:rPr lang="en-IN" dirty="0"/>
              <a:t>Allows manual moderation &amp; override when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The Github link provided has public access permission.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GitHub Link: 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https://github.com/v-ik-s/image-correctness-capstone-project-01?tab=readme-ov-file#image-correctness-capstone-project-01 </a:t>
            </a:r>
            <a:endParaRPr lang="en-US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dirty="0"/>
              <a:t>Timeline of the Project: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89814"/>
            <a:ext cx="10668000" cy="482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Research &amp; Design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Implementation &amp; Integration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Testing, Evaluation &amp; Finalization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F0A411-9C02-15F2-4253-DB21576C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71" y="897957"/>
            <a:ext cx="10725012" cy="526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Krizhevsky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I.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Sutskever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and G. E. Hinton, “ImageNet classification with deep convolutional neural networks,” Communications of the ACM, vol. 60, no. 6, pp. 84–90, Jun. 2017.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J. Redmon and A. Farhadi, “YOLOv3: An Incremental Improvement,”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preprint arXiv:1804.02767, Apr. 2018.3.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Dosovitskiy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et al., “An Image is Worth 16x16 Words: Transformers for Image Recognition at Scale,”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preprint arXiv:2010.11929, Oct. 2020.4.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A. Radford et al., “Learning transferable visual models from natural language supervision,” in Proceedings of the International Conference on Machine Learning (ICML), 2021, pp. 8748–8763.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1522</Words>
  <Application>Microsoft Office PowerPoint</Application>
  <PresentationFormat>Widescreen</PresentationFormat>
  <Paragraphs>165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 Antiqua</vt:lpstr>
      <vt:lpstr>Cambria</vt:lpstr>
      <vt:lpstr>Times New Roman</vt:lpstr>
      <vt:lpstr>Verdana</vt:lpstr>
      <vt:lpstr>Wingdings</vt:lpstr>
      <vt:lpstr>Bioinformatics</vt:lpstr>
      <vt:lpstr>Image Correctness for a Product on the Marketplace</vt:lpstr>
      <vt:lpstr>PS</vt:lpstr>
      <vt:lpstr>Problem Statement</vt:lpstr>
      <vt:lpstr>Objectives</vt:lpstr>
      <vt:lpstr>Literature Survey</vt:lpstr>
      <vt:lpstr>Background and Related work for title Selection</vt:lpstr>
      <vt:lpstr> Analysis of Problem Statement </vt:lpstr>
      <vt:lpstr>Analysis of Problem Statement</vt:lpstr>
      <vt:lpstr>PowerPoint Presentation</vt:lpstr>
      <vt:lpstr>PowerPoint Presentation</vt:lpstr>
      <vt:lpstr>PowerPoint Presentation</vt:lpstr>
      <vt:lpstr>PowerPoint Presentation</vt:lpstr>
      <vt:lpstr>Hardware and Software Details</vt:lpstr>
      <vt:lpstr>Existing Methods and Drawbacks</vt:lpstr>
      <vt:lpstr>Existing Methods and Drawbacks</vt:lpstr>
      <vt:lpstr>Proposed Method &amp; Feasibility Study</vt:lpstr>
      <vt:lpstr>Modules</vt:lpstr>
      <vt:lpstr>Github Link</vt:lpstr>
      <vt:lpstr>Timeline of the Project: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shaik yasin shahid</cp:lastModifiedBy>
  <cp:revision>59</cp:revision>
  <dcterms:created xsi:type="dcterms:W3CDTF">2025-08-12T15:37:00Z</dcterms:created>
  <dcterms:modified xsi:type="dcterms:W3CDTF">2025-12-04T05:24:15Z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09398149FF464B579A4AAB4D90E25FE9_12</vt:lpwstr>
  </property>
  <property fmtid="{D5CDD505-2E9C-101B-9397-08002B2CF9AE}" pid="3" name="KSOProductBuildVer">
    <vt:lpwstr>1033-12.2.0.21931</vt:lpwstr>
  </property>
</Properties>
</file>